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B9188B-B5E6-4ED8-BB02-A3A2EDE325AF}" v="16" dt="2026-10-09T17:40:21.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67"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l Jegan" userId="de56d4f42a91834a" providerId="LiveId" clId="{4CCD8621-6E3F-408B-B670-C7239F753CD8}"/>
    <pc:docChg chg="undo custSel addSld delSld modSld modSection">
      <pc:chgData name="Nikil Jegan" userId="de56d4f42a91834a" providerId="LiveId" clId="{4CCD8621-6E3F-408B-B670-C7239F753CD8}" dt="2026-10-09T17:44:52.555" v="164" actId="255"/>
      <pc:docMkLst>
        <pc:docMk/>
      </pc:docMkLst>
      <pc:sldChg chg="modSp mod">
        <pc:chgData name="Nikil Jegan" userId="de56d4f42a91834a" providerId="LiveId" clId="{4CCD8621-6E3F-408B-B670-C7239F753CD8}" dt="2026-10-09T16:14:46.001" v="97" actId="20577"/>
        <pc:sldMkLst>
          <pc:docMk/>
          <pc:sldMk cId="0" sldId="256"/>
        </pc:sldMkLst>
        <pc:spChg chg="mod">
          <ac:chgData name="Nikil Jegan" userId="de56d4f42a91834a" providerId="LiveId" clId="{4CCD8621-6E3F-408B-B670-C7239F753CD8}" dt="2026-10-09T16:14:46.001" v="97" actId="20577"/>
          <ac:spMkLst>
            <pc:docMk/>
            <pc:sldMk cId="0" sldId="256"/>
            <ac:spMk id="11" creationId="{00000000-0000-0000-0000-000000000000}"/>
          </ac:spMkLst>
        </pc:spChg>
        <pc:spChg chg="mod">
          <ac:chgData name="Nikil Jegan" userId="de56d4f42a91834a" providerId="LiveId" clId="{4CCD8621-6E3F-408B-B670-C7239F753CD8}" dt="2026-10-09T16:13:46.295" v="73" actId="20577"/>
          <ac:spMkLst>
            <pc:docMk/>
            <pc:sldMk cId="0" sldId="256"/>
            <ac:spMk id="14" creationId="{00000000-0000-0000-0000-000000000000}"/>
          </ac:spMkLst>
        </pc:spChg>
        <pc:spChg chg="mod">
          <ac:chgData name="Nikil Jegan" userId="de56d4f42a91834a" providerId="LiveId" clId="{4CCD8621-6E3F-408B-B670-C7239F753CD8}" dt="2026-10-09T16:14:22.935" v="76" actId="20577"/>
          <ac:spMkLst>
            <pc:docMk/>
            <pc:sldMk cId="0" sldId="256"/>
            <ac:spMk id="15" creationId="{00000000-0000-0000-0000-000000000000}"/>
          </ac:spMkLst>
        </pc:spChg>
      </pc:sldChg>
      <pc:sldChg chg="addSp delSp modSp mod">
        <pc:chgData name="Nikil Jegan" userId="de56d4f42a91834a" providerId="LiveId" clId="{4CCD8621-6E3F-408B-B670-C7239F753CD8}" dt="2026-10-09T16:16:27.197" v="112" actId="478"/>
        <pc:sldMkLst>
          <pc:docMk/>
          <pc:sldMk cId="0" sldId="257"/>
        </pc:sldMkLst>
        <pc:spChg chg="mod">
          <ac:chgData name="Nikil Jegan" userId="de56d4f42a91834a" providerId="LiveId" clId="{4CCD8621-6E3F-408B-B670-C7239F753CD8}" dt="2026-10-09T16:15:39.655" v="106" actId="20577"/>
          <ac:spMkLst>
            <pc:docMk/>
            <pc:sldMk cId="0" sldId="257"/>
            <ac:spMk id="3" creationId="{00000000-0000-0000-0000-000000000000}"/>
          </ac:spMkLst>
        </pc:spChg>
        <pc:spChg chg="mod">
          <ac:chgData name="Nikil Jegan" userId="de56d4f42a91834a" providerId="LiveId" clId="{4CCD8621-6E3F-408B-B670-C7239F753CD8}" dt="2026-10-09T16:16:21.662" v="111" actId="207"/>
          <ac:spMkLst>
            <pc:docMk/>
            <pc:sldMk cId="0" sldId="257"/>
            <ac:spMk id="6" creationId="{00000000-0000-0000-0000-000000000000}"/>
          </ac:spMkLst>
        </pc:spChg>
        <pc:spChg chg="del">
          <ac:chgData name="Nikil Jegan" userId="de56d4f42a91834a" providerId="LiveId" clId="{4CCD8621-6E3F-408B-B670-C7239F753CD8}" dt="2026-10-09T16:16:27.197" v="112" actId="478"/>
          <ac:spMkLst>
            <pc:docMk/>
            <pc:sldMk cId="0" sldId="257"/>
            <ac:spMk id="9" creationId="{00000000-0000-0000-0000-000000000000}"/>
          </ac:spMkLst>
        </pc:spChg>
        <pc:spChg chg="mod">
          <ac:chgData name="Nikil Jegan" userId="de56d4f42a91834a" providerId="LiveId" clId="{4CCD8621-6E3F-408B-B670-C7239F753CD8}" dt="2026-10-09T16:15:00.183" v="99"/>
          <ac:spMkLst>
            <pc:docMk/>
            <pc:sldMk cId="0" sldId="257"/>
            <ac:spMk id="10" creationId="{00000000-0000-0000-0000-000000000000}"/>
          </ac:spMkLst>
        </pc:spChg>
        <pc:spChg chg="add del mod">
          <ac:chgData name="Nikil Jegan" userId="de56d4f42a91834a" providerId="LiveId" clId="{4CCD8621-6E3F-408B-B670-C7239F753CD8}" dt="2026-10-09T16:15:13.277" v="102"/>
          <ac:spMkLst>
            <pc:docMk/>
            <pc:sldMk cId="0" sldId="257"/>
            <ac:spMk id="11" creationId="{22B7D426-EDBF-0A05-4F04-C691E6E53A1C}"/>
          </ac:spMkLst>
        </pc:spChg>
        <pc:spChg chg="add del mod">
          <ac:chgData name="Nikil Jegan" userId="de56d4f42a91834a" providerId="LiveId" clId="{4CCD8621-6E3F-408B-B670-C7239F753CD8}" dt="2026-10-09T16:15:14.519" v="105"/>
          <ac:spMkLst>
            <pc:docMk/>
            <pc:sldMk cId="0" sldId="257"/>
            <ac:spMk id="12" creationId="{973016F4-46D0-E2F2-9311-EB4FC2A1380D}"/>
          </ac:spMkLst>
        </pc:spChg>
      </pc:sldChg>
      <pc:sldChg chg="modSp mod">
        <pc:chgData name="Nikil Jegan" userId="de56d4f42a91834a" providerId="LiveId" clId="{4CCD8621-6E3F-408B-B670-C7239F753CD8}" dt="2026-10-09T16:17:19.801" v="122" actId="255"/>
        <pc:sldMkLst>
          <pc:docMk/>
          <pc:sldMk cId="0" sldId="258"/>
        </pc:sldMkLst>
        <pc:spChg chg="mod">
          <ac:chgData name="Nikil Jegan" userId="de56d4f42a91834a" providerId="LiveId" clId="{4CCD8621-6E3F-408B-B670-C7239F753CD8}" dt="2026-10-09T16:17:19.801" v="122" actId="255"/>
          <ac:spMkLst>
            <pc:docMk/>
            <pc:sldMk cId="0" sldId="258"/>
            <ac:spMk id="6" creationId="{00000000-0000-0000-0000-000000000000}"/>
          </ac:spMkLst>
        </pc:spChg>
      </pc:sldChg>
      <pc:sldChg chg="modSp mod">
        <pc:chgData name="Nikil Jegan" userId="de56d4f42a91834a" providerId="LiveId" clId="{4CCD8621-6E3F-408B-B670-C7239F753CD8}" dt="2026-10-09T16:17:10.585" v="121" actId="255"/>
        <pc:sldMkLst>
          <pc:docMk/>
          <pc:sldMk cId="0" sldId="259"/>
        </pc:sldMkLst>
        <pc:spChg chg="mod">
          <ac:chgData name="Nikil Jegan" userId="de56d4f42a91834a" providerId="LiveId" clId="{4CCD8621-6E3F-408B-B670-C7239F753CD8}" dt="2026-10-09T16:17:10.585" v="121" actId="255"/>
          <ac:spMkLst>
            <pc:docMk/>
            <pc:sldMk cId="0" sldId="259"/>
            <ac:spMk id="6" creationId="{00000000-0000-0000-0000-000000000000}"/>
          </ac:spMkLst>
        </pc:spChg>
      </pc:sldChg>
      <pc:sldChg chg="modSp mod">
        <pc:chgData name="Nikil Jegan" userId="de56d4f42a91834a" providerId="LiveId" clId="{4CCD8621-6E3F-408B-B670-C7239F753CD8}" dt="2026-10-09T16:18:10.521" v="126" actId="255"/>
        <pc:sldMkLst>
          <pc:docMk/>
          <pc:sldMk cId="0" sldId="260"/>
        </pc:sldMkLst>
        <pc:spChg chg="mod">
          <ac:chgData name="Nikil Jegan" userId="de56d4f42a91834a" providerId="LiveId" clId="{4CCD8621-6E3F-408B-B670-C7239F753CD8}" dt="2026-10-09T16:18:10.521" v="126" actId="255"/>
          <ac:spMkLst>
            <pc:docMk/>
            <pc:sldMk cId="0" sldId="260"/>
            <ac:spMk id="6" creationId="{00000000-0000-0000-0000-000000000000}"/>
          </ac:spMkLst>
        </pc:spChg>
      </pc:sldChg>
      <pc:sldChg chg="modSp mod">
        <pc:chgData name="Nikil Jegan" userId="de56d4f42a91834a" providerId="LiveId" clId="{4CCD8621-6E3F-408B-B670-C7239F753CD8}" dt="2026-10-09T17:39:51.936" v="141" actId="20577"/>
        <pc:sldMkLst>
          <pc:docMk/>
          <pc:sldMk cId="0" sldId="261"/>
        </pc:sldMkLst>
        <pc:spChg chg="mod">
          <ac:chgData name="Nikil Jegan" userId="de56d4f42a91834a" providerId="LiveId" clId="{4CCD8621-6E3F-408B-B670-C7239F753CD8}" dt="2026-10-09T16:17:58.453" v="125" actId="255"/>
          <ac:spMkLst>
            <pc:docMk/>
            <pc:sldMk cId="0" sldId="261"/>
            <ac:spMk id="6" creationId="{00000000-0000-0000-0000-000000000000}"/>
          </ac:spMkLst>
        </pc:spChg>
        <pc:spChg chg="mod">
          <ac:chgData name="Nikil Jegan" userId="de56d4f42a91834a" providerId="LiveId" clId="{4CCD8621-6E3F-408B-B670-C7239F753CD8}" dt="2026-10-09T17:39:51.936" v="141" actId="20577"/>
          <ac:spMkLst>
            <pc:docMk/>
            <pc:sldMk cId="0" sldId="261"/>
            <ac:spMk id="10" creationId="{00000000-0000-0000-0000-000000000000}"/>
          </ac:spMkLst>
        </pc:spChg>
      </pc:sldChg>
      <pc:sldChg chg="modSp mod">
        <pc:chgData name="Nikil Jegan" userId="de56d4f42a91834a" providerId="LiveId" clId="{4CCD8621-6E3F-408B-B670-C7239F753CD8}" dt="2026-10-09T17:44:52.555" v="164" actId="255"/>
        <pc:sldMkLst>
          <pc:docMk/>
          <pc:sldMk cId="0" sldId="262"/>
        </pc:sldMkLst>
        <pc:spChg chg="mod">
          <ac:chgData name="Nikil Jegan" userId="de56d4f42a91834a" providerId="LiveId" clId="{4CCD8621-6E3F-408B-B670-C7239F753CD8}" dt="2026-10-09T16:18:33.518" v="128" actId="255"/>
          <ac:spMkLst>
            <pc:docMk/>
            <pc:sldMk cId="0" sldId="262"/>
            <ac:spMk id="6" creationId="{00000000-0000-0000-0000-000000000000}"/>
          </ac:spMkLst>
        </pc:spChg>
        <pc:spChg chg="mod">
          <ac:chgData name="Nikil Jegan" userId="de56d4f42a91834a" providerId="LiveId" clId="{4CCD8621-6E3F-408B-B670-C7239F753CD8}" dt="2026-10-09T17:44:52.555" v="164" actId="255"/>
          <ac:spMkLst>
            <pc:docMk/>
            <pc:sldMk cId="0" sldId="262"/>
            <ac:spMk id="10" creationId="{00000000-0000-0000-0000-000000000000}"/>
          </ac:spMkLst>
        </pc:spChg>
      </pc:sldChg>
      <pc:sldChg chg="modSp add del mod">
        <pc:chgData name="Nikil Jegan" userId="de56d4f42a91834a" providerId="LiveId" clId="{4CCD8621-6E3F-408B-B670-C7239F753CD8}" dt="2026-10-09T16:19:06.085" v="134" actId="20577"/>
        <pc:sldMkLst>
          <pc:docMk/>
          <pc:sldMk cId="0" sldId="263"/>
        </pc:sldMkLst>
        <pc:spChg chg="mod">
          <ac:chgData name="Nikil Jegan" userId="de56d4f42a91834a" providerId="LiveId" clId="{4CCD8621-6E3F-408B-B670-C7239F753CD8}" dt="2026-10-09T16:19:00.373" v="133" actId="255"/>
          <ac:spMkLst>
            <pc:docMk/>
            <pc:sldMk cId="0" sldId="263"/>
            <ac:spMk id="6" creationId="{00000000-0000-0000-0000-000000000000}"/>
          </ac:spMkLst>
        </pc:spChg>
        <pc:spChg chg="mod">
          <ac:chgData name="Nikil Jegan" userId="de56d4f42a91834a" providerId="LiveId" clId="{4CCD8621-6E3F-408B-B670-C7239F753CD8}" dt="2026-10-09T16:19:06.085" v="134" actId="20577"/>
          <ac:spMkLst>
            <pc:docMk/>
            <pc:sldMk cId="0" sldId="263"/>
            <ac:spMk id="9" creationId="{00000000-0000-0000-0000-000000000000}"/>
          </ac:spMkLst>
        </pc:spChg>
      </pc:sldChg>
      <pc:sldChg chg="new del">
        <pc:chgData name="Nikil Jegan" userId="de56d4f42a91834a" providerId="LiveId" clId="{4CCD8621-6E3F-408B-B670-C7239F753CD8}" dt="2026-10-09T16:26:21.225" v="138" actId="680"/>
        <pc:sldMkLst>
          <pc:docMk/>
          <pc:sldMk cId="1911509528"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973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548640" y="3138639"/>
            <a:ext cx="6035040" cy="3125001"/>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600" dirty="0">
                <a:solidFill>
                  <a:schemeClr val="bg1"/>
                </a:solidFill>
              </a:rPr>
              <a:t>Team Name – Ctrl Alt Defeat</a:t>
            </a:r>
          </a:p>
          <a:p>
            <a:pPr marL="279400" indent="-279400">
              <a:spcAft>
                <a:spcPts val="1400"/>
              </a:spcAft>
              <a:buClr>
                <a:schemeClr val="accent3"/>
              </a:buClr>
              <a:buSzPct val="100000"/>
              <a:buChar char="•"/>
            </a:pPr>
            <a:r>
              <a:rPr lang="en-US" sz="1600" dirty="0">
                <a:solidFill>
                  <a:schemeClr val="bg1"/>
                </a:solidFill>
              </a:rPr>
              <a:t>Team Members – Riyaa Chandrasekaran, Nikil J A , P S Tanish,</a:t>
            </a:r>
            <a:br>
              <a:rPr lang="en-US" sz="1600" dirty="0">
                <a:solidFill>
                  <a:schemeClr val="bg1"/>
                </a:solidFill>
              </a:rPr>
            </a:br>
            <a:r>
              <a:rPr lang="en-US" sz="1600" dirty="0">
                <a:solidFill>
                  <a:schemeClr val="bg1"/>
                </a:solidFill>
              </a:rPr>
              <a:t> S </a:t>
            </a:r>
            <a:r>
              <a:rPr lang="en-US" sz="1600" dirty="0" err="1">
                <a:solidFill>
                  <a:schemeClr val="bg1"/>
                </a:solidFill>
              </a:rPr>
              <a:t>Rithekaa</a:t>
            </a:r>
            <a:endParaRPr lang="en-US" sz="1600" dirty="0">
              <a:solidFill>
                <a:schemeClr val="bg1"/>
              </a:solidFill>
            </a:endParaRPr>
          </a:p>
          <a:p>
            <a:pPr marL="279400" indent="-279400">
              <a:spcAft>
                <a:spcPts val="1400"/>
              </a:spcAft>
              <a:buClr>
                <a:schemeClr val="accent3"/>
              </a:buClr>
              <a:buSzPct val="100000"/>
              <a:buChar char="•"/>
            </a:pPr>
            <a:r>
              <a:rPr lang="en-US" sz="1600" dirty="0">
                <a:solidFill>
                  <a:schemeClr val="bg1"/>
                </a:solidFill>
              </a:rPr>
              <a:t>Selected Domain – Climate Action , Water &amp; Environmental Resilience</a:t>
            </a:r>
          </a:p>
          <a:p>
            <a:pPr marL="279400" indent="-279400">
              <a:spcAft>
                <a:spcPts val="1400"/>
              </a:spcAft>
              <a:buClr>
                <a:schemeClr val="accent3"/>
              </a:buClr>
              <a:buSzPct val="100000"/>
              <a:buChar char="•"/>
            </a:pPr>
            <a:r>
              <a:rPr lang="en-US" sz="1600" dirty="0">
                <a:solidFill>
                  <a:schemeClr val="bg1"/>
                </a:solidFill>
              </a:rPr>
              <a:t>Problem Statement –Design a crowdsourced navigation framework that detects hyper-local urban climate hazards—such as extreme heat corridors and street-level waterlogging—by analyzing passive, client-side smartphone telemetry (specifically smartphone battery thermal curves and accelerometer-based pedestrian velocity drops) to dynamically calculate climate-resilient alternative travel routes for daily commuters.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dirty="0"/>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868680" y="2148840"/>
            <a:ext cx="10424160" cy="1188720"/>
          </a:xfrm>
          <a:prstGeom prst="rect">
            <a:avLst/>
          </a:prstGeom>
          <a:noFill/>
          <a:ln/>
        </p:spPr>
        <p:txBody>
          <a:bodyPr wrap="square" lIns="0" tIns="0" rIns="0" bIns="0" rtlCol="0" anchor="t"/>
          <a:lstStyle/>
          <a:p>
            <a:r>
              <a:rPr lang="en-US" dirty="0"/>
              <a:t>1. WHAT EXACTLY NEEDS TO BE SOLVED?</a:t>
            </a:r>
            <a:br>
              <a:rPr lang="en-US" dirty="0"/>
            </a:br>
            <a:r>
              <a:rPr lang="en-US" dirty="0"/>
              <a:t>Current navigation apps mainly focus on finding the fastest route. They often don't consider local hazards like extreme heat, waterlogging, or sudden weather-related problems. Our application aims to make navigation more hazard-aware. It combines smartphone-based signals with weather, location, satellite, and other environmental data to identify areas where a hazard may be developing and help commuters choose safer routes.</a:t>
            </a:r>
            <a:br>
              <a:rPr lang="en-US" dirty="0"/>
            </a:br>
            <a:br>
              <a:rPr lang="en-US" dirty="0"/>
            </a:br>
            <a:r>
              <a:rPr lang="en-US" dirty="0"/>
              <a:t>2. WHY IS IT IMPORTANT RIGHT NOW?</a:t>
            </a:r>
            <a:br>
              <a:rPr lang="en-US" dirty="0"/>
            </a:br>
            <a:r>
              <a:rPr lang="en-US" dirty="0"/>
              <a:t>Extreme heat and sudden urban flooding are becoming more common and unpredictable. These conditions can make everyday travel difficult and unsafe, especially for pedestrians, delivery workers, and other outdoor commuters.</a:t>
            </a:r>
            <a:br>
              <a:rPr lang="en-US" dirty="0"/>
            </a:br>
            <a:r>
              <a:rPr lang="en-US" dirty="0"/>
              <a:t>Instead of depending on people to manually report every hazard, our system uses available data to identify potential problems automatically. This makes the solution easier to use, scalable, and useful for building safer and more climate-resilient cities.</a:t>
            </a:r>
          </a:p>
          <a:p>
            <a:br>
              <a:rPr lang="en-US" dirty="0"/>
            </a:b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3720514"/>
          </a:xfrm>
          <a:prstGeom prst="rect">
            <a:avLst/>
          </a:prstGeom>
          <a:noFill/>
          <a:ln/>
        </p:spPr>
        <p:txBody>
          <a:bodyPr wrap="square" lIns="0" tIns="0" rIns="0" bIns="0" rtlCol="0" anchor="t"/>
          <a:lstStyle/>
          <a:p>
            <a:pPr marL="342900" indent="-342900">
              <a:spcAft>
                <a:spcPts val="1000"/>
              </a:spcAft>
              <a:buClr>
                <a:schemeClr val="accent1"/>
              </a:buClr>
              <a:buSzPct val="100000"/>
              <a:buAutoNum type="arabicPeriod"/>
            </a:pPr>
            <a:r>
              <a:rPr lang="en-US" b="1" dirty="0"/>
              <a:t>Primary users / target group:</a:t>
            </a:r>
            <a:br>
              <a:rPr lang="en-US" dirty="0"/>
            </a:br>
            <a:r>
              <a:rPr lang="en-US" dirty="0"/>
              <a:t>Daily commuters and pedestrians</a:t>
            </a:r>
            <a:br>
              <a:rPr lang="en-US" dirty="0"/>
            </a:br>
            <a:r>
              <a:rPr lang="en-US" dirty="0"/>
              <a:t>Delivery and gig workers</a:t>
            </a:r>
            <a:br>
              <a:rPr lang="en-US" dirty="0"/>
            </a:br>
            <a:r>
              <a:rPr lang="en-US" dirty="0"/>
              <a:t>People travelling through heat- or waterlogging-prone areas</a:t>
            </a:r>
          </a:p>
          <a:p>
            <a:pPr marL="342900" indent="-342900">
              <a:spcAft>
                <a:spcPts val="1000"/>
              </a:spcAft>
              <a:buClr>
                <a:schemeClr val="accent1"/>
              </a:buClr>
              <a:buSzPct val="100000"/>
              <a:buAutoNum type="arabicPeriod"/>
            </a:pPr>
            <a:r>
              <a:rPr lang="en-US" dirty="0"/>
              <a:t> </a:t>
            </a:r>
            <a:r>
              <a:rPr lang="en-US" b="1" dirty="0"/>
              <a:t>Secondary stakeholders:</a:t>
            </a:r>
            <a:br>
              <a:rPr lang="en-US" dirty="0"/>
            </a:br>
            <a:r>
              <a:rPr lang="en-US" dirty="0"/>
              <a:t>Municipalities and urban planners</a:t>
            </a:r>
            <a:br>
              <a:rPr lang="en-US" dirty="0"/>
            </a:br>
            <a:r>
              <a:rPr lang="en-US" dirty="0"/>
              <a:t>Traffic and emergency services</a:t>
            </a:r>
            <a:br>
              <a:rPr lang="en-US" dirty="0"/>
            </a:br>
            <a:r>
              <a:rPr lang="en-US" dirty="0"/>
              <a:t>Smart-city authorities</a:t>
            </a:r>
          </a:p>
          <a:p>
            <a:pPr marL="342900" indent="-342900">
              <a:spcAft>
                <a:spcPts val="1000"/>
              </a:spcAft>
              <a:buClr>
                <a:schemeClr val="accent1"/>
              </a:buClr>
              <a:buSzPct val="100000"/>
              <a:buAutoNum type="arabicPeriod"/>
            </a:pPr>
            <a:r>
              <a:rPr lang="en-US" b="1" dirty="0"/>
              <a:t>Who benefits if the problem is solved?</a:t>
            </a:r>
            <a:br>
              <a:rPr lang="en-US" dirty="0"/>
            </a:br>
            <a:r>
              <a:rPr lang="en-US" dirty="0"/>
              <a:t>Commuters: Safer and more comfortable routes</a:t>
            </a:r>
            <a:br>
              <a:rPr lang="en-US" dirty="0"/>
            </a:br>
            <a:r>
              <a:rPr lang="en-US" dirty="0"/>
              <a:t>Delivery workers: Fewer risky and disrupted journeys</a:t>
            </a:r>
            <a:br>
              <a:rPr lang="en-US" dirty="0"/>
            </a:br>
            <a:r>
              <a:rPr lang="en-US" dirty="0"/>
              <a:t>Cities: Better identification of hazard-prone areas for planning and infrastructure improvements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2148840"/>
            <a:ext cx="10424160" cy="32461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dirty="0"/>
              <a:t>Existing scenario and background</a:t>
            </a:r>
            <a:br>
              <a:rPr lang="en-US" dirty="0"/>
            </a:br>
            <a:r>
              <a:rPr lang="en-US" dirty="0"/>
              <a:t>Navigation apps mainly focus on finding the fastest route. They usually do not consider local heat, heavy rainfall, or waterlogging. People often have to notice and report hazards themselves. </a:t>
            </a:r>
            <a:br>
              <a:rPr lang="en-US" dirty="0"/>
            </a:br>
            <a:endParaRPr lang="en-US" dirty="0"/>
          </a:p>
          <a:p>
            <a:pPr marL="285750" indent="-285750">
              <a:spcAft>
                <a:spcPts val="1000"/>
              </a:spcAft>
              <a:buClr>
                <a:schemeClr val="accent1"/>
              </a:buClr>
              <a:buSzPct val="100000"/>
              <a:buFont typeface="Arial" panose="020B0604020202020204" pitchFamily="34" charset="0"/>
              <a:buChar char="•"/>
            </a:pPr>
            <a:r>
              <a:rPr lang="en-US" dirty="0"/>
              <a:t>Relevant data or facts:</a:t>
            </a:r>
            <a:br>
              <a:rPr lang="en-US" dirty="0"/>
            </a:br>
            <a:r>
              <a:rPr lang="en-US" dirty="0"/>
              <a:t>Weather APIs provide rainfall, temperature, and humidity data. </a:t>
            </a:r>
            <a:br>
              <a:rPr lang="en-US" dirty="0"/>
            </a:br>
            <a:r>
              <a:rPr lang="en-US" dirty="0"/>
              <a:t>GPS shows location and changes in movement speed. Satellite and terrain data help identify areas that may be more vulnerable to heat or waterlogging.</a:t>
            </a:r>
            <a:br>
              <a:rPr lang="en-US" dirty="0"/>
            </a:br>
            <a:br>
              <a:rPr lang="en-US" dirty="0"/>
            </a:br>
            <a:r>
              <a:rPr lang="en-US" dirty="0"/>
              <a:t>Current workflow:</a:t>
            </a:r>
          </a:p>
          <a:p>
            <a:pPr marL="285750" indent="-285750">
              <a:spcAft>
                <a:spcPts val="1000"/>
              </a:spcAft>
              <a:buClr>
                <a:schemeClr val="accent1"/>
              </a:buClr>
              <a:buSzPct val="100000"/>
              <a:buFont typeface="Arial" panose="020B0604020202020204" pitchFamily="34" charset="0"/>
              <a:buChar char="•"/>
            </a:pPr>
            <a:r>
              <a:rPr lang="en-US" dirty="0"/>
              <a:t>Weather changes → Hazard develops → Commuter encounters it → User reports it → Others are informed</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1980591"/>
            <a:ext cx="10424160" cy="3927840"/>
          </a:xfrm>
          <a:prstGeom prst="rect">
            <a:avLst/>
          </a:prstGeom>
          <a:noFill/>
          <a:ln/>
        </p:spPr>
        <p:txBody>
          <a:bodyPr wrap="square" lIns="0" tIns="0" rIns="0" bIns="0" rtlCol="0" anchor="t"/>
          <a:lstStyle/>
          <a:p>
            <a:pPr marL="342900" indent="-342900">
              <a:spcAft>
                <a:spcPts val="1000"/>
              </a:spcAft>
              <a:buClr>
                <a:schemeClr val="accent1"/>
              </a:buClr>
              <a:buSzPct val="100000"/>
              <a:buFont typeface="Arial" panose="020B0604020202020204" pitchFamily="34" charset="0"/>
              <a:buChar char="•"/>
            </a:pPr>
            <a:r>
              <a:rPr lang="en-US" dirty="0"/>
              <a:t>What's going wrong:</a:t>
            </a:r>
            <a:br>
              <a:rPr lang="en-US" dirty="0"/>
            </a:br>
            <a:r>
              <a:rPr lang="en-US" dirty="0"/>
              <a:t>Weather stations are few and far apart, so a street can be flooded or scorching while the city "average" says everything is fine. Rain, drainage, traffic and heat data sit with different departments and never come together. We react after the flood or heatstroke instead of warning people before it.</a:t>
            </a:r>
          </a:p>
          <a:p>
            <a:pPr marL="342900" indent="-342900">
              <a:spcAft>
                <a:spcPts val="1000"/>
              </a:spcAft>
              <a:buClr>
                <a:schemeClr val="accent1"/>
              </a:buClr>
              <a:buSzPct val="100000"/>
              <a:buFont typeface="Arial" panose="020B0604020202020204" pitchFamily="34" charset="0"/>
              <a:buChar char="•"/>
            </a:pPr>
            <a:r>
              <a:rPr lang="en-US" dirty="0"/>
              <a:t>Why it keeps happening :</a:t>
            </a:r>
            <a:br>
              <a:rPr lang="en-US" dirty="0"/>
            </a:br>
            <a:r>
              <a:rPr lang="en-US" dirty="0"/>
              <a:t>Cities grew fast- more concrete, blocked drains, fewer trees. Dense, low-cost sensors were never set up on the ground. Agencies don't share data on a common platform. Weather apps give city-wide numbers, not street-level ones.</a:t>
            </a:r>
          </a:p>
          <a:p>
            <a:pPr marL="342900" indent="-342900">
              <a:spcAft>
                <a:spcPts val="1000"/>
              </a:spcAft>
              <a:buClr>
                <a:schemeClr val="accent1"/>
              </a:buClr>
              <a:buSzPct val="100000"/>
              <a:buFont typeface="Arial" panose="020B0604020202020204" pitchFamily="34" charset="0"/>
              <a:buChar char="•"/>
            </a:pPr>
            <a:r>
              <a:rPr lang="en-US" dirty="0"/>
              <a:t>If we do nothing:</a:t>
            </a:r>
            <a:br>
              <a:rPr lang="en-US" dirty="0"/>
            </a:br>
            <a:r>
              <a:rPr lang="en-US" dirty="0"/>
              <a:t>Outdoor and gig workers face heat exhaustion and heatstroke. More accidents, stalled vehicles and flooded underpasses. </a:t>
            </a:r>
            <a:br>
              <a:rPr lang="en-US" dirty="0"/>
            </a:br>
            <a:r>
              <a:rPr lang="en-US" dirty="0"/>
              <a:t>Lost work hours, delayed deliveries, damaged vehicles. Money gets spent on the wrong areas because there's no ground-level proof. The people with the least choice carry the most risk!</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79" y="2148840"/>
            <a:ext cx="10573043" cy="3822114"/>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t>6.EXISTING SOLUTIONS / APPROACHES:</a:t>
            </a:r>
            <a:br>
              <a:rPr lang="en-US" dirty="0"/>
            </a:br>
            <a:r>
              <a:rPr lang="en-US" dirty="0"/>
              <a:t>Existing methods, systems or alternatives. </a:t>
            </a:r>
            <a:br>
              <a:rPr lang="en-US" dirty="0"/>
            </a:br>
            <a:r>
              <a:rPr lang="en-US" dirty="0"/>
              <a:t>Navigation apps mainly focus on fastest routes and traffic.</a:t>
            </a:r>
            <a:br>
              <a:rPr lang="en-US" dirty="0"/>
            </a:br>
            <a:r>
              <a:rPr lang="en-US" dirty="0"/>
              <a:t>Weather apps provide general weather information.</a:t>
            </a:r>
            <a:br>
              <a:rPr lang="en-US" dirty="0"/>
            </a:br>
            <a:r>
              <a:rPr lang="en-US" dirty="0"/>
              <a:t>Flood-warning systems provide alerts for known or larger risk areas.</a:t>
            </a:r>
          </a:p>
          <a:p>
            <a:pPr marL="279400" indent="-279400">
              <a:spcAft>
                <a:spcPts val="1000"/>
              </a:spcAft>
              <a:buClr>
                <a:schemeClr val="accent1"/>
              </a:buClr>
              <a:buSzPct val="100000"/>
              <a:buChar char="•"/>
            </a:pPr>
            <a:r>
              <a:rPr lang="en-US" dirty="0"/>
              <a:t>Limitations of each:</a:t>
            </a:r>
            <a:br>
              <a:rPr lang="en-US" dirty="0"/>
            </a:br>
            <a:r>
              <a:rPr lang="en-US" dirty="0"/>
              <a:t> They often don't provide street-level, real-time hazard information. </a:t>
            </a:r>
            <a:br>
              <a:rPr lang="en-US" dirty="0"/>
            </a:br>
            <a:r>
              <a:rPr lang="en-US" dirty="0"/>
              <a:t>Weather information may not reflect what is happening on a particular road.</a:t>
            </a:r>
            <a:br>
              <a:rPr lang="en-US" dirty="0"/>
            </a:br>
            <a:r>
              <a:rPr lang="en-US" dirty="0"/>
              <a:t>Manual reporting takes time and depends on users actively reporting problems.</a:t>
            </a:r>
          </a:p>
          <a:p>
            <a:pPr marL="279400" indent="-279400">
              <a:spcAft>
                <a:spcPts val="1000"/>
              </a:spcAft>
              <a:buClr>
                <a:schemeClr val="accent1"/>
              </a:buClr>
              <a:buSzPct val="100000"/>
              <a:buChar char="•"/>
            </a:pPr>
            <a:r>
              <a:rPr lang="en-US" dirty="0"/>
              <a:t>The gap they leave open:</a:t>
            </a:r>
            <a:br>
              <a:rPr lang="en-US" dirty="0"/>
            </a:br>
            <a:r>
              <a:rPr lang="en-US" dirty="0"/>
              <a:t>There is a need for a system that combines weather, location, mobility and environmental data to identify local hazards and support safer route decisions.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68680" y="2148839"/>
            <a:ext cx="10424160" cy="6276145"/>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t>Hardware Requirements:</a:t>
            </a:r>
            <a:br>
              <a:rPr lang="en-US" dirty="0"/>
            </a:br>
            <a:r>
              <a:rPr lang="en-US" dirty="0"/>
              <a:t>Smartphones with GPS and basic sensors</a:t>
            </a:r>
            <a:br>
              <a:rPr lang="en-US" dirty="0"/>
            </a:br>
            <a:r>
              <a:rPr lang="en-US" dirty="0"/>
              <a:t>No dedicated roadside cameras or expensive hardware required</a:t>
            </a:r>
          </a:p>
          <a:p>
            <a:pPr marL="279400" indent="-279400">
              <a:spcAft>
                <a:spcPts val="1000"/>
              </a:spcAft>
              <a:buClr>
                <a:schemeClr val="accent1"/>
              </a:buClr>
              <a:buSzPct val="100000"/>
              <a:buChar char="•"/>
            </a:pPr>
            <a:r>
              <a:rPr lang="en-US" dirty="0"/>
              <a:t>Software Requirements:</a:t>
            </a:r>
            <a:br>
              <a:rPr lang="en-US" dirty="0"/>
            </a:br>
            <a:r>
              <a:rPr lang="en-US" dirty="0"/>
              <a:t>Mobile/web application</a:t>
            </a:r>
            <a:br>
              <a:rPr lang="en-US" dirty="0"/>
            </a:br>
            <a:r>
              <a:rPr lang="en-US" dirty="0"/>
              <a:t>Weather and map APIs</a:t>
            </a:r>
            <a:br>
              <a:rPr lang="en-US" dirty="0"/>
            </a:br>
            <a:r>
              <a:rPr lang="en-US" dirty="0"/>
              <a:t>Satellite and terrain data</a:t>
            </a:r>
            <a:br>
              <a:rPr lang="en-US" dirty="0"/>
            </a:br>
            <a:r>
              <a:rPr lang="en-US" dirty="0"/>
              <a:t>AI/ML model for hazard-risk prediction</a:t>
            </a:r>
            <a:br>
              <a:rPr lang="en-US" dirty="0"/>
            </a:br>
            <a:r>
              <a:rPr lang="en-US" dirty="0"/>
              <a:t>Database and map-based dashboard</a:t>
            </a:r>
          </a:p>
          <a:p>
            <a:pPr marL="279400" indent="-279400">
              <a:spcAft>
                <a:spcPts val="1000"/>
              </a:spcAft>
              <a:buClr>
                <a:schemeClr val="accent1"/>
              </a:buClr>
              <a:buSzPct val="100000"/>
              <a:buChar char="•"/>
            </a:pPr>
            <a:r>
              <a:rPr lang="en-US" dirty="0"/>
              <a:t>Other resources:</a:t>
            </a:r>
            <a:br>
              <a:rPr lang="en-US" dirty="0"/>
            </a:br>
            <a:r>
              <a:rPr lang="en-US" dirty="0"/>
              <a:t>Historical rainfall and waterlogging data</a:t>
            </a:r>
            <a:br>
              <a:rPr lang="en-US" dirty="0"/>
            </a:br>
            <a:r>
              <a:rPr lang="en-US" dirty="0"/>
              <a:t>Road and geographical data</a:t>
            </a:r>
            <a:br>
              <a:rPr lang="en-US" dirty="0"/>
            </a:br>
            <a:r>
              <a:rPr lang="en-US" dirty="0"/>
              <a:t>A small development team for AI, app development and data analysis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r>
              <a:rPr lang="en-US" b="1" i="1" dirty="0">
                <a:solidFill>
                  <a:schemeClr val="accent1"/>
                </a:solidFill>
              </a:rPr>
              <a:t>Ctrl Alt Defeat</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our Expected Outcome?</a:t>
            </a:r>
            <a:endParaRPr lang="en-US" sz="1800" dirty="0"/>
          </a:p>
        </p:txBody>
      </p:sp>
      <p:sp>
        <p:nvSpPr>
          <p:cNvPr id="10" name="Prompts"/>
          <p:cNvSpPr txBox="1"/>
          <p:nvPr/>
        </p:nvSpPr>
        <p:spPr>
          <a:xfrm>
            <a:off x="868680" y="2148840"/>
            <a:ext cx="10424160" cy="3900268"/>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dirty="0"/>
              <a:t>What We Noticed:</a:t>
            </a:r>
            <a:br>
              <a:rPr lang="en-US" dirty="0"/>
            </a:br>
            <a:r>
              <a:rPr lang="en-US" dirty="0"/>
              <a:t>Every area is different: one small zone can flood or overheat while the city average looks normal</a:t>
            </a:r>
            <a:br>
              <a:rPr lang="en-US" dirty="0"/>
            </a:br>
            <a:r>
              <a:rPr lang="en-US" dirty="0"/>
              <a:t>Problems repeat: the same areas waterlog or heat up every season, so they can be predicted</a:t>
            </a:r>
            <a:br>
              <a:rPr lang="en-US" dirty="0"/>
            </a:br>
            <a:r>
              <a:rPr lang="en-US" dirty="0"/>
              <a:t>Phones are sensors: commuters and delivery riders already carry them</a:t>
            </a:r>
            <a:br>
              <a:rPr lang="en-US" dirty="0"/>
            </a:br>
            <a:r>
              <a:rPr lang="en-US" dirty="0"/>
              <a:t>Cities need proof: area-level data should guide where to invest</a:t>
            </a:r>
          </a:p>
          <a:p>
            <a:pPr marL="285750" indent="-285750">
              <a:spcAft>
                <a:spcPts val="1000"/>
              </a:spcAft>
              <a:buClr>
                <a:schemeClr val="accent1"/>
              </a:buClr>
              <a:buSzPct val="100000"/>
              <a:buFont typeface="Arial" panose="020B0604020202020204" pitchFamily="34" charset="0"/>
              <a:buChar char="•"/>
            </a:pPr>
            <a:r>
              <a:rPr lang="en-US" dirty="0"/>
              <a:t>How We Help:</a:t>
            </a:r>
            <a:br>
              <a:rPr lang="en-US" dirty="0"/>
            </a:br>
            <a:r>
              <a:rPr lang="en-US" dirty="0"/>
              <a:t>Micro-zone maps: live heat and waterlogging hotspots for any small area</a:t>
            </a:r>
            <a:br>
              <a:rPr lang="en-US" dirty="0"/>
            </a:br>
            <a:r>
              <a:rPr lang="en-US" dirty="0"/>
              <a:t>Safer routes: cooler, drier paths with real-time alerts</a:t>
            </a:r>
          </a:p>
          <a:p>
            <a:pPr marL="285750" indent="-285750">
              <a:spcAft>
                <a:spcPts val="1000"/>
              </a:spcAft>
              <a:buClr>
                <a:schemeClr val="accent1"/>
              </a:buClr>
              <a:buSzPct val="100000"/>
              <a:buFont typeface="Arial" panose="020B0604020202020204" pitchFamily="34" charset="0"/>
              <a:buChar char="•"/>
            </a:pPr>
            <a:r>
              <a:rPr lang="en-US" dirty="0"/>
              <a:t>What We Need:</a:t>
            </a:r>
            <a:br>
              <a:rPr lang="en-US" dirty="0"/>
            </a:br>
            <a:r>
              <a:rPr lang="en-US" dirty="0"/>
              <a:t>Technology: smartphones for data, low-cost sensors, cloud server, mobile app, open map and weather data, simple prediction model.</a:t>
            </a:r>
            <a:br>
              <a:rPr lang="en-US" dirty="0"/>
            </a:br>
            <a:r>
              <a:rPr lang="en-US" dirty="0"/>
              <a:t>OUR TARGET: Phones and open data can warn people about unsafe areas and show the city where to fix them.</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1085</Words>
  <Application>Microsoft Office PowerPoint</Application>
  <PresentationFormat>Widescreen</PresentationFormat>
  <Paragraphs>69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Nikil Jegan</cp:lastModifiedBy>
  <cp:revision>2</cp:revision>
  <dcterms:created xsi:type="dcterms:W3CDTF">2026-10-07T15:27:40Z</dcterms:created>
  <dcterms:modified xsi:type="dcterms:W3CDTF">2026-10-09T17:53:44Z</dcterms:modified>
</cp:coreProperties>
</file>